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00D2FF"/>
                </a:solidFill>
              </a:defRPr>
            </a:pPr>
            <a:r>
              <a:t>Implementasi Sistem SOAR Open-Source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FFFFFF"/>
                </a:solidFill>
              </a:defRPr>
            </a:pPr>
            <a:r>
              <a:t>Berbasis n8n untuk Deteksi dan Respons Ancaman</a:t>
            </a:r>
            <a:br/>
            <a:r>
              <a:t>Malware dan Phishing dengan Mitigasi Aktif Human-in-the-Loop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114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00D2FF"/>
                </a:solidFill>
              </a:defRPr>
            </a:pPr>
            <a:r>
              <a:t>━━━━━━━━━━━━━━━━━━━━━━━━━━━━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7548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Ravi Arnan Irianto  ·  2305551076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3035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AAAAA"/>
                </a:solidFill>
              </a:defRPr>
            </a:pPr>
            <a:r>
              <a:t>Bimbingan TA  · 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2FF"/>
                </a:solidFill>
              </a:defRPr>
            </a:pPr>
            <a:r>
              <a:t>Ringkasan Progress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97280"/>
            <a:ext cx="3474720" cy="2560320"/>
          </a:xfrm>
          <a:prstGeom prst="roundRect">
            <a:avLst/>
          </a:prstGeom>
          <a:solidFill>
            <a:srgbClr val="2525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2926079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00D2FF"/>
                </a:solidFill>
              </a:defRPr>
            </a:pPr>
            <a:r>
              <a:t>✅ Selesai (A)</a:t>
            </a:r>
          </a:p>
          <a:p>
            <a:pPr>
              <a:spcBef>
                <a:spcPts val="400"/>
              </a:spcBef>
              <a:defRPr sz="1400">
                <a:solidFill>
                  <a:srgbClr val="FFFFFF"/>
                </a:solidFill>
              </a:defRPr>
            </a:pPr>
            <a:r>
              <a:t>• block-domain persist</a:t>
            </a:r>
          </a:p>
          <a:p>
            <a:pPr>
              <a:spcBef>
                <a:spcPts val="400"/>
              </a:spcBef>
              <a:defRPr sz="1400">
                <a:solidFill>
                  <a:srgbClr val="FFFFFF"/>
                </a:solidFill>
              </a:defRPr>
            </a:pPr>
            <a:r>
              <a:t>• Notifikasi ganda diperbaiki</a:t>
            </a:r>
          </a:p>
          <a:p>
            <a:pPr>
              <a:spcBef>
                <a:spcPts val="400"/>
              </a:spcBef>
              <a:defRPr sz="1400">
                <a:solidFill>
                  <a:srgbClr val="FFFFFF"/>
                </a:solidFill>
              </a:defRPr>
            </a:pPr>
            <a:r>
              <a:t>• Event deleted diabaikan</a:t>
            </a:r>
          </a:p>
          <a:p>
            <a:pPr>
              <a:spcBef>
                <a:spcPts val="400"/>
              </a:spcBef>
              <a:defRPr sz="1400">
                <a:solidFill>
                  <a:srgbClr val="FFFFFF"/>
                </a:solidFill>
              </a:defRPr>
            </a:pPr>
            <a:r>
              <a:t>• Reproducibility config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0" y="1097280"/>
            <a:ext cx="3474720" cy="2560320"/>
          </a:xfrm>
          <a:prstGeom prst="roundRect">
            <a:avLst/>
          </a:prstGeom>
          <a:solidFill>
            <a:srgbClr val="2525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0" y="1280160"/>
            <a:ext cx="2926079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00D2FF"/>
                </a:solidFill>
              </a:defRPr>
            </a:pPr>
            <a:r>
              <a:t>✅ Selesai (C)</a:t>
            </a:r>
          </a:p>
          <a:p>
            <a:pPr>
              <a:spcBef>
                <a:spcPts val="400"/>
              </a:spcBef>
              <a:defRPr sz="1400">
                <a:solidFill>
                  <a:srgbClr val="FFFFFF"/>
                </a:solidFill>
              </a:defRPr>
            </a:pPr>
            <a:r>
              <a:t>• MTTR malware 1,68 dtk (N=15)</a:t>
            </a:r>
          </a:p>
          <a:p>
            <a:pPr>
              <a:spcBef>
                <a:spcPts val="400"/>
              </a:spcBef>
              <a:defRPr sz="1400">
                <a:solidFill>
                  <a:srgbClr val="FFFFFF"/>
                </a:solidFill>
              </a:defRPr>
            </a:pPr>
            <a:r>
              <a:t>• MTTR phishing 2,13 dtk (N=5)</a:t>
            </a:r>
          </a:p>
          <a:p>
            <a:pPr>
              <a:spcBef>
                <a:spcPts val="400"/>
              </a:spcBef>
              <a:defRPr sz="1400">
                <a:solidFill>
                  <a:srgbClr val="FFFFFF"/>
                </a:solidFill>
              </a:defRPr>
            </a:pPr>
            <a:r>
              <a:t>• FP suppression 100%</a:t>
            </a:r>
          </a:p>
          <a:p>
            <a:pPr>
              <a:spcBef>
                <a:spcPts val="400"/>
              </a:spcBef>
              <a:defRPr sz="1400">
                <a:solidFill>
                  <a:srgbClr val="FFFFFF"/>
                </a:solidFill>
              </a:defRPr>
            </a:pPr>
            <a:r>
              <a:t>• Benchmark N=30 selesai</a:t>
            </a:r>
          </a:p>
          <a:p>
            <a:pPr>
              <a:spcBef>
                <a:spcPts val="400"/>
              </a:spcBef>
              <a:defRPr sz="1400">
                <a:solidFill>
                  <a:srgbClr val="FFFFFF"/>
                </a:solidFill>
              </a:defRPr>
            </a:pPr>
            <a:r>
              <a:t>• MITRE ATT&amp;CK mapping (10 teknik)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8160" y="1097280"/>
            <a:ext cx="3474720" cy="2560320"/>
          </a:xfrm>
          <a:prstGeom prst="roundRect">
            <a:avLst/>
          </a:prstGeom>
          <a:solidFill>
            <a:srgbClr val="2525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0" y="1280160"/>
            <a:ext cx="2926079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00D2FF"/>
                </a:solidFill>
              </a:defRPr>
            </a:pPr>
            <a:r>
              <a:t>✅ Selesai (B)</a:t>
            </a:r>
          </a:p>
          <a:p>
            <a:pPr>
              <a:spcBef>
                <a:spcPts val="400"/>
              </a:spcBef>
              <a:defRPr sz="1400">
                <a:solidFill>
                  <a:srgbClr val="FFFFFF"/>
                </a:solidFill>
              </a:defRPr>
            </a:pPr>
            <a:r>
              <a:t>• Hybrid: risky ext → HITL review</a:t>
            </a:r>
          </a:p>
          <a:p>
            <a:pPr>
              <a:spcBef>
                <a:spcPts val="400"/>
              </a:spcBef>
              <a:defRPr sz="1400">
                <a:solidFill>
                  <a:srgbClr val="FFFFFF"/>
                </a:solidFill>
              </a:defRPr>
            </a:pPr>
            <a:r>
              <a:t>• MalwareBazaar ensemble (VT+MB)</a:t>
            </a:r>
          </a:p>
          <a:p>
            <a:pPr>
              <a:spcBef>
                <a:spcPts val="400"/>
              </a:spcBef>
              <a:defRPr sz="1400">
                <a:solidFill>
                  <a:srgbClr val="FFFFFF"/>
                </a:solidFill>
              </a:defRPr>
            </a:pPr>
            <a:r>
              <a:t>• TTL diferensial cache</a:t>
            </a:r>
          </a:p>
          <a:p>
            <a:pPr>
              <a:spcBef>
                <a:spcPts val="400"/>
              </a:spcBef>
              <a:defRPr sz="1400">
                <a:solidFill>
                  <a:srgbClr val="FFFFFF"/>
                </a:solidFill>
              </a:defRPr>
            </a:pPr>
            <a:r>
              <a:t>• G2: exec-bit detection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931920"/>
            <a:ext cx="3474720" cy="2560320"/>
          </a:xfrm>
          <a:prstGeom prst="roundRect">
            <a:avLst/>
          </a:prstGeom>
          <a:solidFill>
            <a:srgbClr val="2525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114800"/>
            <a:ext cx="2926079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00D2FF"/>
                </a:solidFill>
              </a:defRPr>
            </a:pPr>
            <a:r>
              <a:t>✅ Selesai (D+F)</a:t>
            </a:r>
          </a:p>
          <a:p>
            <a:pPr>
              <a:spcBef>
                <a:spcPts val="400"/>
              </a:spcBef>
              <a:defRPr sz="1400">
                <a:solidFill>
                  <a:srgbClr val="FFFFFF"/>
                </a:solidFill>
              </a:defRPr>
            </a:pPr>
            <a:r>
              <a:t>• Hardening: Caddy + TLS + auth</a:t>
            </a:r>
          </a:p>
          <a:p>
            <a:pPr>
              <a:spcBef>
                <a:spcPts val="400"/>
              </a:spcBef>
              <a:defRPr sz="1400">
                <a:solidFill>
                  <a:srgbClr val="FFFFFF"/>
                </a:solidFill>
              </a:defRPr>
            </a:pPr>
            <a:r>
              <a:t>• IaC: Ansible playbook</a:t>
            </a:r>
          </a:p>
          <a:p>
            <a:pPr>
              <a:spcBef>
                <a:spcPts val="400"/>
              </a:spcBef>
              <a:defRPr sz="1400">
                <a:solidFill>
                  <a:srgbClr val="FFFFFF"/>
                </a:solidFill>
              </a:defRPr>
            </a:pPr>
            <a:r>
              <a:t>• Self-aware health monitor</a:t>
            </a:r>
          </a:p>
          <a:p>
            <a:pPr>
              <a:spcBef>
                <a:spcPts val="400"/>
              </a:spcBef>
              <a:defRPr sz="1400">
                <a:solidFill>
                  <a:srgbClr val="FFFFFF"/>
                </a:solidFill>
              </a:defRPr>
            </a:pPr>
            <a:r>
              <a:t>• Explainable notifications</a:t>
            </a:r>
          </a:p>
          <a:p>
            <a:pPr>
              <a:spcBef>
                <a:spcPts val="400"/>
              </a:spcBef>
              <a:defRPr sz="1400">
                <a:solidFill>
                  <a:srgbClr val="FFFFFF"/>
                </a:solidFill>
              </a:defRPr>
            </a:pPr>
            <a:r>
              <a:t>• Audit trail analis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3931920"/>
            <a:ext cx="3474720" cy="2560320"/>
          </a:xfrm>
          <a:prstGeom prst="roundRect">
            <a:avLst/>
          </a:prstGeom>
          <a:solidFill>
            <a:srgbClr val="2525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4114800"/>
            <a:ext cx="2926079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00D2FF"/>
                </a:solidFill>
              </a:defRPr>
            </a:pPr>
            <a:r>
              <a:t>✅ Selesai (G+H)</a:t>
            </a:r>
          </a:p>
          <a:p>
            <a:pPr>
              <a:spcBef>
                <a:spcPts val="400"/>
              </a:spcBef>
              <a:defRPr sz="1400">
                <a:solidFill>
                  <a:srgbClr val="FFFFFF"/>
                </a:solidFill>
              </a:defRPr>
            </a:pPr>
            <a:r>
              <a:t>• G1: Phishing proaktif (URLhaus)</a:t>
            </a:r>
          </a:p>
          <a:p>
            <a:pPr>
              <a:spcBef>
                <a:spcPts val="400"/>
              </a:spcBef>
              <a:defRPr sz="1400">
                <a:solidFill>
                  <a:srgbClr val="FFFFFF"/>
                </a:solidFill>
              </a:defRPr>
            </a:pPr>
            <a:r>
              <a:t>• G2: Magic-byte detection</a:t>
            </a:r>
          </a:p>
          <a:p>
            <a:pPr>
              <a:spcBef>
                <a:spcPts val="400"/>
              </a:spcBef>
              <a:defRPr sz="1400">
                <a:solidFill>
                  <a:srgbClr val="FFFFFF"/>
                </a:solidFill>
              </a:defRPr>
            </a:pPr>
            <a:r>
              <a:t>• H1: n8n update 2.36.9</a:t>
            </a:r>
          </a:p>
          <a:p>
            <a:pPr>
              <a:spcBef>
                <a:spcPts val="400"/>
              </a:spcBef>
              <a:defRPr sz="1400">
                <a:solidFill>
                  <a:srgbClr val="FFFFFF"/>
                </a:solidFill>
              </a:defRPr>
            </a:pPr>
            <a:r>
              <a:t>• H2: Pin versi n8n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3931920"/>
            <a:ext cx="3474720" cy="2560320"/>
          </a:xfrm>
          <a:prstGeom prst="roundRect">
            <a:avLst/>
          </a:prstGeom>
          <a:solidFill>
            <a:srgbClr val="2525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0" y="4114800"/>
            <a:ext cx="2926079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00D2FF"/>
                </a:solidFill>
              </a:defRPr>
            </a:pPr>
            <a:r>
              <a:t>⬜ Belum</a:t>
            </a:r>
          </a:p>
          <a:p>
            <a:pPr>
              <a:spcBef>
                <a:spcPts val="400"/>
              </a:spcBef>
              <a:defRPr sz="1400">
                <a:solidFill>
                  <a:srgbClr val="FFFFFF"/>
                </a:solidFill>
              </a:defRPr>
            </a:pPr>
            <a:r>
              <a:t>• LLM-fallback advisory (F)</a:t>
            </a:r>
          </a:p>
          <a:p>
            <a:pPr>
              <a:spcBef>
                <a:spcPts val="400"/>
              </a:spcBef>
              <a:defRPr sz="1400">
                <a:solidFill>
                  <a:srgbClr val="FFFFFF"/>
                </a:solidFill>
              </a:defRPr>
            </a:pPr>
            <a:r>
              <a:t>• Trusted autonomy (F)</a:t>
            </a:r>
          </a:p>
          <a:p>
            <a:pPr>
              <a:spcBef>
                <a:spcPts val="400"/>
              </a:spcBef>
              <a:defRPr sz="1400">
                <a:solidFill>
                  <a:srgbClr val="FFFFFF"/>
                </a:solidFill>
              </a:defRPr>
            </a:pPr>
            <a:r>
              <a:t>• Arsitektur HA (E)</a:t>
            </a:r>
          </a:p>
          <a:p>
            <a:pPr>
              <a:spcBef>
                <a:spcPts val="400"/>
              </a:spcBef>
              <a:defRPr sz="1400">
                <a:solidFill>
                  <a:srgbClr val="FFFFFF"/>
                </a:solidFill>
              </a:defRPr>
            </a:pPr>
            <a:r>
              <a:t>• Upgrade Wazuh 4.14.7 (H3)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2FF"/>
                </a:solidFill>
              </a:defRPr>
            </a:pPr>
            <a:r>
              <a:t>Arsitektur Sistem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AAAAA"/>
                </a:solidFill>
              </a:defRPr>
            </a:pPr>
            <a:r>
              <a:t>Stack: Wazuh 4.9.2 + n8n 2.36.9 + Ollama llama3.2:3b + VirusTotal + GSB + MalwareBazaar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2011680"/>
            <a:ext cx="1828800" cy="1097280"/>
          </a:xfrm>
          <a:prstGeom prst="roundRect">
            <a:avLst/>
          </a:prstGeom>
          <a:solidFill>
            <a:srgbClr val="25253E"/>
          </a:solidFill>
          <a:ln w="254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>
                <a:solidFill>
                  <a:srgbClr val="FFFFFF"/>
                </a:solidFill>
              </a:defRPr>
            </a:pPr>
            <a:r>
              <a:t>Endpoint</a:t>
            </a:r>
            <a:br/>
            <a:r>
              <a:t>(FIM/Log)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60320" y="2011680"/>
            <a:ext cx="1828800" cy="1097280"/>
          </a:xfrm>
          <a:prstGeom prst="roundRect">
            <a:avLst/>
          </a:prstGeom>
          <a:solidFill>
            <a:srgbClr val="25253E"/>
          </a:solidFill>
          <a:ln w="254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>
                <a:solidFill>
                  <a:srgbClr val="FFFFFF"/>
                </a:solidFill>
              </a:defRPr>
            </a:pPr>
            <a:r>
              <a:t>Wazuh</a:t>
            </a:r>
            <a:br/>
            <a:r>
              <a:t>Manager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63440" y="2011680"/>
            <a:ext cx="1828800" cy="1097280"/>
          </a:xfrm>
          <a:prstGeom prst="roundRect">
            <a:avLst/>
          </a:prstGeom>
          <a:solidFill>
            <a:srgbClr val="25253E"/>
          </a:solidFill>
          <a:ln w="254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>
                <a:solidFill>
                  <a:srgbClr val="FFFFFF"/>
                </a:solidFill>
              </a:defRPr>
            </a:pPr>
            <a:r>
              <a:t>n8n</a:t>
            </a:r>
            <a:br/>
            <a:r>
              <a:t>Webhook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0" y="2011680"/>
            <a:ext cx="1828800" cy="1097280"/>
          </a:xfrm>
          <a:prstGeom prst="roundRect">
            <a:avLst/>
          </a:prstGeom>
          <a:solidFill>
            <a:srgbClr val="25253E"/>
          </a:solidFill>
          <a:ln w="254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>
                <a:solidFill>
                  <a:srgbClr val="FFFFFF"/>
                </a:solidFill>
              </a:defRPr>
            </a:pPr>
            <a:r>
              <a:t>VT + MB</a:t>
            </a:r>
            <a:br/>
            <a:r>
              <a:t>Ensemble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69680" y="2011680"/>
            <a:ext cx="1828800" cy="1097280"/>
          </a:xfrm>
          <a:prstGeom prst="roundRect">
            <a:avLst/>
          </a:prstGeom>
          <a:solidFill>
            <a:srgbClr val="25253E"/>
          </a:solidFill>
          <a:ln w="254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>
                <a:solidFill>
                  <a:srgbClr val="FFFFFF"/>
                </a:solidFill>
              </a:defRPr>
            </a:pPr>
            <a:r>
              <a:t>Ollama</a:t>
            </a:r>
            <a:br/>
            <a:r>
              <a:t>AI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972800" y="2011680"/>
            <a:ext cx="1828800" cy="1097280"/>
          </a:xfrm>
          <a:prstGeom prst="roundRect">
            <a:avLst/>
          </a:prstGeom>
          <a:solidFill>
            <a:srgbClr val="25253E"/>
          </a:solidFill>
          <a:ln w="2540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>
                <a:solidFill>
                  <a:srgbClr val="FFFFFF"/>
                </a:solidFill>
              </a:defRPr>
            </a:pPr>
            <a:r>
              <a:t>Telegram</a:t>
            </a:r>
            <a:br/>
            <a:r>
              <a:t>HITL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0" y="2468879"/>
            <a:ext cx="2743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0D2FF"/>
                </a:solidFill>
              </a:defRPr>
            </a:pPr>
            <a: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2468879"/>
            <a:ext cx="2743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0D2FF"/>
                </a:solidFill>
              </a:defRPr>
            </a:pPr>
            <a: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468879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0D2FF"/>
                </a:solidFill>
              </a:defRPr>
            </a:pPr>
            <a:r>
              <a:t>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0" y="2468879"/>
            <a:ext cx="2743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0D2FF"/>
                </a:solidFill>
              </a:defRPr>
            </a:pPr>
            <a:r>
              <a:t>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0" y="2468879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0D2FF"/>
                </a:solidFill>
              </a:defRPr>
            </a:pPr>
            <a:r>
              <a:t>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D2FF"/>
                </a:solidFill>
              </a:defRPr>
            </a:pPr>
            <a:r>
              <a:t>Decision Paths: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0233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E676"/>
                </a:solidFill>
              </a:defRPr>
            </a:pPr>
            <a:r>
              <a:t>VT ≥ 20 malicious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0" y="402336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</a:defRPr>
            </a:pPr>
            <a: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402336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</a:defRPr>
            </a:pPr>
            <a:r>
              <a:t>AUTO ISOLATE (quarantine-file)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4805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D600"/>
                </a:solidFill>
              </a:defRPr>
            </a:pPr>
            <a:r>
              <a:t>VT 5-19 / MB malicious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0" y="448056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</a:defRPr>
            </a:pPr>
            <a: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448056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</a:defRPr>
            </a:pPr>
            <a:r>
              <a:t>HITL Telegram (tombol Isolasi/Abaikan)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49377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D600"/>
                </a:solidFill>
              </a:defRPr>
            </a:pPr>
            <a:r>
              <a:t>VT 1-4 / review_unknown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0" y="493776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</a:defRPr>
            </a:pPr>
            <a: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493776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</a:defRPr>
            </a:pPr>
            <a:r>
              <a:t>HITL Telegram + LLM Advisory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53949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4545"/>
                </a:solidFill>
              </a:defRPr>
            </a:pPr>
            <a:r>
              <a:t>VT unverified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0" y="539496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</a:defRPr>
            </a:pPr>
            <a:r>
              <a:t>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539496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</a:defRPr>
            </a:pPr>
            <a:r>
              <a:t>Self-aware degraded + Advisory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8521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AAAAAA"/>
                </a:solidFill>
              </a:defRPr>
            </a:pPr>
            <a:r>
              <a:t>VT clean + MB clean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00" y="585216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FFFFFF"/>
                </a:solidFill>
              </a:defRPr>
            </a:pPr>
            <a:r>
              <a:t>→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0" y="585216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</a:defRPr>
            </a:pPr>
            <a:r>
              <a:t>Silent (no notification)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2FF"/>
                </a:solidFill>
              </a:defRPr>
            </a:pPr>
            <a:r>
              <a:t>Hasil Benchmark (2026-09-02)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97280"/>
            <a:ext cx="3474720" cy="2286000"/>
          </a:xfrm>
          <a:prstGeom prst="roundRect">
            <a:avLst/>
          </a:prstGeom>
          <a:solidFill>
            <a:srgbClr val="2525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2926079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00E676"/>
                </a:solidFill>
              </a:defRPr>
            </a:pPr>
            <a:r>
              <a:t>MTTR Malware (N=30)</a:t>
            </a:r>
          </a:p>
          <a:p>
            <a:pPr>
              <a:spcBef>
                <a:spcPts val="400"/>
              </a:spcBef>
              <a:defRPr sz="1400">
                <a:solidFill>
                  <a:srgbClr val="FFFFFF"/>
                </a:solidFill>
              </a:defRPr>
            </a:pPr>
            <a:r>
              <a:t>• Webhook response: 0,03 detik</a:t>
            </a:r>
          </a:p>
          <a:p>
            <a:pPr>
              <a:spcBef>
                <a:spcPts val="400"/>
              </a:spcBef>
              <a:defRPr sz="1400">
                <a:solidFill>
                  <a:srgbClr val="FFFFFF"/>
                </a:solidFill>
              </a:defRPr>
            </a:pPr>
            <a:r>
              <a:t>• End-to-end: ~1,68 detik</a:t>
            </a:r>
          </a:p>
          <a:p>
            <a:pPr>
              <a:spcBef>
                <a:spcPts val="400"/>
              </a:spcBef>
              <a:defRPr sz="1400">
                <a:solidFill>
                  <a:srgbClr val="FFFFFF"/>
                </a:solidFill>
              </a:defRPr>
            </a:pPr>
            <a:r>
              <a:t>• VT cache hangat</a:t>
            </a:r>
          </a:p>
          <a:p>
            <a:pPr>
              <a:spcBef>
                <a:spcPts val="400"/>
              </a:spcBef>
              <a:defRPr sz="1400">
                <a:solidFill>
                  <a:srgbClr val="FFFFFF"/>
                </a:solidFill>
              </a:defRPr>
            </a:pPr>
            <a:r>
              <a:t>• Median: 1,42 detik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0" y="1097280"/>
            <a:ext cx="3474720" cy="2286000"/>
          </a:xfrm>
          <a:prstGeom prst="roundRect">
            <a:avLst/>
          </a:prstGeom>
          <a:solidFill>
            <a:srgbClr val="2525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0" y="1280160"/>
            <a:ext cx="2926079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00E676"/>
                </a:solidFill>
              </a:defRPr>
            </a:pPr>
            <a:r>
              <a:t>MTTR Phishing (N=10)</a:t>
            </a:r>
          </a:p>
          <a:p>
            <a:pPr>
              <a:spcBef>
                <a:spcPts val="400"/>
              </a:spcBef>
              <a:defRPr sz="1400">
                <a:solidFill>
                  <a:srgbClr val="FFFFFF"/>
                </a:solidFill>
              </a:defRPr>
            </a:pPr>
            <a:r>
              <a:t>• Webhook response: 0,03 detik</a:t>
            </a:r>
          </a:p>
          <a:p>
            <a:pPr>
              <a:spcBef>
                <a:spcPts val="400"/>
              </a:spcBef>
              <a:defRPr sz="1400">
                <a:solidFill>
                  <a:srgbClr val="FFFFFF"/>
                </a:solidFill>
              </a:defRPr>
            </a:pPr>
            <a:r>
              <a:t>• End-to-end: ~2,13 detik</a:t>
            </a:r>
          </a:p>
          <a:p>
            <a:pPr>
              <a:spcBef>
                <a:spcPts val="400"/>
              </a:spcBef>
              <a:defRPr sz="1400">
                <a:solidFill>
                  <a:srgbClr val="FFFFFF"/>
                </a:solidFill>
              </a:defRPr>
            </a:pPr>
            <a:r>
              <a:t>• GSB jalur cepat</a:t>
            </a:r>
          </a:p>
          <a:p>
            <a:pPr>
              <a:spcBef>
                <a:spcPts val="400"/>
              </a:spcBef>
              <a:defRPr sz="1400">
                <a:solidFill>
                  <a:srgbClr val="FFFFFF"/>
                </a:solidFill>
              </a:defRPr>
            </a:pPr>
            <a:r>
              <a:t>• 10/10 berhasil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8160" y="1097280"/>
            <a:ext cx="3474720" cy="2286000"/>
          </a:xfrm>
          <a:prstGeom prst="roundRect">
            <a:avLst/>
          </a:prstGeom>
          <a:solidFill>
            <a:srgbClr val="2525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0" y="1280160"/>
            <a:ext cx="2926079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00D2FF"/>
                </a:solidFill>
              </a:defRPr>
            </a:pPr>
            <a:r>
              <a:t>Load Test (N=20)</a:t>
            </a:r>
          </a:p>
          <a:p>
            <a:pPr>
              <a:spcBef>
                <a:spcPts val="400"/>
              </a:spcBef>
              <a:defRPr sz="1400">
                <a:solidFill>
                  <a:srgbClr val="FFFFFF"/>
                </a:solidFill>
              </a:defRPr>
            </a:pPr>
            <a:r>
              <a:t>• Throughput: 34,11 alert/detik</a:t>
            </a:r>
          </a:p>
          <a:p>
            <a:pPr>
              <a:spcBef>
                <a:spcPts val="400"/>
              </a:spcBef>
              <a:defRPr sz="1400">
                <a:solidFill>
                  <a:srgbClr val="FFFFFF"/>
                </a:solidFill>
              </a:defRPr>
            </a:pPr>
            <a:r>
              <a:t>• Rata-rata: 142 ms/alert</a:t>
            </a:r>
          </a:p>
          <a:p>
            <a:pPr>
              <a:spcBef>
                <a:spcPts val="400"/>
              </a:spcBef>
              <a:defRPr sz="1400">
                <a:solidFill>
                  <a:srgbClr val="FFFFFF"/>
                </a:solidFill>
              </a:defRPr>
            </a:pPr>
            <a:r>
              <a:t>• Concurrency: 5 thread</a:t>
            </a:r>
          </a:p>
          <a:p>
            <a:pPr>
              <a:spcBef>
                <a:spcPts val="400"/>
              </a:spcBef>
              <a:defRPr sz="1400">
                <a:solidFill>
                  <a:srgbClr val="FFFFFF"/>
                </a:solidFill>
              </a:defRPr>
            </a:pPr>
            <a:r>
              <a:t>• Wall time: 0,6 detik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77440" y="3749039"/>
            <a:ext cx="4114800" cy="2286000"/>
          </a:xfrm>
          <a:prstGeom prst="roundRect">
            <a:avLst/>
          </a:prstGeom>
          <a:solidFill>
            <a:srgbClr val="2525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51760" y="3931920"/>
            <a:ext cx="35661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00E676"/>
                </a:solidFill>
              </a:defRPr>
            </a:pPr>
            <a:r>
              <a:t>False-Negative Rate (N=15)</a:t>
            </a:r>
          </a:p>
          <a:p>
            <a:pPr>
              <a:spcBef>
                <a:spcPts val="400"/>
              </a:spcBef>
              <a:defRPr sz="1400">
                <a:solidFill>
                  <a:srgbClr val="FFFFFF"/>
                </a:solidFill>
              </a:defRPr>
            </a:pPr>
            <a:r>
              <a:t>• FN rate: 0,0% (0/15 silent)</a:t>
            </a:r>
          </a:p>
          <a:p>
            <a:pPr>
              <a:spcBef>
                <a:spcPts val="400"/>
              </a:spcBef>
              <a:defRPr sz="1400">
                <a:solidFill>
                  <a:srgbClr val="FFFFFF"/>
                </a:solidFill>
              </a:defRPr>
            </a:pPr>
            <a:r>
              <a:t>• True-positive: 100%</a:t>
            </a:r>
          </a:p>
          <a:p>
            <a:pPr>
              <a:spcBef>
                <a:spcPts val="400"/>
              </a:spcBef>
              <a:defRPr sz="1400">
                <a:solidFill>
                  <a:srgbClr val="FFFFFF"/>
                </a:solidFill>
              </a:defRPr>
            </a:pPr>
            <a:r>
              <a:t>• Risky ext + unknown hash</a:t>
            </a:r>
          </a:p>
          <a:p>
            <a:pPr>
              <a:spcBef>
                <a:spcPts val="400"/>
              </a:spcBef>
              <a:defRPr sz="1400">
                <a:solidFill>
                  <a:srgbClr val="FFFFFF"/>
                </a:solidFill>
              </a:defRPr>
            </a:pPr>
            <a:r>
              <a:t>• Semua terdeteksi sebagai threat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0" y="3749039"/>
            <a:ext cx="4114800" cy="2286000"/>
          </a:xfrm>
          <a:prstGeom prst="roundRect">
            <a:avLst/>
          </a:prstGeom>
          <a:solidFill>
            <a:srgbClr val="2525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0" y="3931920"/>
            <a:ext cx="35661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00E676"/>
                </a:solidFill>
              </a:defRPr>
            </a:pPr>
            <a:r>
              <a:t>FP Suppression (N=8)</a:t>
            </a:r>
          </a:p>
          <a:p>
            <a:pPr>
              <a:spcBef>
                <a:spcPts val="400"/>
              </a:spcBef>
              <a:defRPr sz="1400">
                <a:solidFill>
                  <a:srgbClr val="FFFFFF"/>
                </a:solidFill>
              </a:defRPr>
            </a:pPr>
            <a:r>
              <a:t>• Baseline: 8 alert FIM</a:t>
            </a:r>
          </a:p>
          <a:p>
            <a:pPr>
              <a:spcBef>
                <a:spcPts val="400"/>
              </a:spcBef>
              <a:defRPr sz="1400">
                <a:solidFill>
                  <a:srgbClr val="FFFFFF"/>
                </a:solidFill>
              </a:defRPr>
            </a:pPr>
            <a:r>
              <a:t>• SOAR: 0 notifikasi</a:t>
            </a:r>
          </a:p>
          <a:p>
            <a:pPr>
              <a:spcBef>
                <a:spcPts val="400"/>
              </a:spcBef>
              <a:defRPr sz="1400">
                <a:solidFill>
                  <a:srgbClr val="FFFFFF"/>
                </a:solidFill>
              </a:defRPr>
            </a:pPr>
            <a:r>
              <a:t>• Reduksi FP: 100%</a:t>
            </a:r>
          </a:p>
          <a:p>
            <a:pPr>
              <a:spcBef>
                <a:spcPts val="400"/>
              </a:spcBef>
              <a:defRPr sz="1400">
                <a:solidFill>
                  <a:srgbClr val="FFFFFF"/>
                </a:solidFill>
              </a:defRPr>
            </a:pPr>
            <a:r>
              <a:t>• VT-gating berfungsi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2FF"/>
                </a:solidFill>
              </a:defRPr>
            </a:pPr>
            <a:r>
              <a:t>Kontribusi &amp; Kebaruan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97280"/>
            <a:ext cx="5303520" cy="2286000"/>
          </a:xfrm>
          <a:prstGeom prst="roundRect">
            <a:avLst/>
          </a:prstGeom>
          <a:solidFill>
            <a:srgbClr val="2525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47548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00D2FF"/>
                </a:solidFill>
              </a:defRPr>
            </a:pPr>
            <a:r>
              <a:t>🧠 Explainable + Self-Aware</a:t>
            </a:r>
          </a:p>
          <a:p>
            <a:pPr>
              <a:spcBef>
                <a:spcPts val="400"/>
              </a:spcBef>
              <a:defRPr sz="1400">
                <a:solidFill>
                  <a:srgbClr val="FFFFFF"/>
                </a:solidFill>
              </a:defRPr>
            </a:pPr>
            <a:r>
              <a:t>• Setiap notifikasi memuat alasan keputusan (🧠 Alasan)</a:t>
            </a:r>
          </a:p>
          <a:p>
            <a:pPr>
              <a:spcBef>
                <a:spcPts val="400"/>
              </a:spcBef>
              <a:defRPr sz="1400">
                <a:solidFill>
                  <a:srgbClr val="FFFFFF"/>
                </a:solidFill>
              </a:defRPr>
            </a:pPr>
            <a:r>
              <a:t>• Self-aware: tandai Degradasi saat sumber rate-limit/error</a:t>
            </a:r>
          </a:p>
          <a:p>
            <a:pPr>
              <a:spcBef>
                <a:spcPts val="400"/>
              </a:spcBef>
              <a:defRPr sz="1400">
                <a:solidFill>
                  <a:srgbClr val="FFFFFF"/>
                </a:solidFill>
              </a:defRPr>
            </a:pPr>
            <a:r>
              <a:t>• Audit trail: keputusan analis tercatat + waktu WITA</a:t>
            </a:r>
          </a:p>
          <a:p>
            <a:pPr>
              <a:spcBef>
                <a:spcPts val="400"/>
              </a:spcBef>
              <a:defRPr sz="1400">
                <a:solidFill>
                  <a:srgbClr val="FFFFFF"/>
                </a:solidFill>
              </a:defRPr>
            </a:pPr>
            <a:r>
              <a:t>• LLM advisory untuk alert edge cases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097280"/>
            <a:ext cx="5303520" cy="2286000"/>
          </a:xfrm>
          <a:prstGeom prst="roundRect">
            <a:avLst/>
          </a:prstGeom>
          <a:solidFill>
            <a:srgbClr val="2525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92240" y="1280160"/>
            <a:ext cx="47548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00D2FF"/>
                </a:solidFill>
              </a:defRPr>
            </a:pPr>
            <a:r>
              <a:t>🛡️ Confidence-Based Decision</a:t>
            </a:r>
          </a:p>
          <a:p>
            <a:pPr>
              <a:spcBef>
                <a:spcPts val="400"/>
              </a:spcBef>
              <a:defRPr sz="1400">
                <a:solidFill>
                  <a:srgbClr val="FFFFFF"/>
                </a:solidFill>
              </a:defRPr>
            </a:pPr>
            <a:r>
              <a:t>• 5 jalur keputusan berdasarkan keyakinan</a:t>
            </a:r>
          </a:p>
          <a:p>
            <a:pPr>
              <a:spcBef>
                <a:spcPts val="400"/>
              </a:spcBef>
              <a:defRPr sz="1400">
                <a:solidFill>
                  <a:srgbClr val="FFFFFF"/>
                </a:solidFill>
              </a:defRPr>
            </a:pPr>
            <a:r>
              <a:t>• Auto-isolate hanya untuk keyakinan tinggi (≥20 VT)</a:t>
            </a:r>
          </a:p>
          <a:p>
            <a:pPr>
              <a:spcBef>
                <a:spcPts val="400"/>
              </a:spcBef>
              <a:defRPr sz="1400">
                <a:solidFill>
                  <a:srgbClr val="FFFFFF"/>
                </a:solidFill>
              </a:defRPr>
            </a:pPr>
            <a:r>
              <a:t>• Ensemble VT + MalwareBazaar (multi-sumber)</a:t>
            </a:r>
          </a:p>
          <a:p>
            <a:pPr>
              <a:spcBef>
                <a:spcPts val="400"/>
              </a:spcBef>
              <a:defRPr sz="1400">
                <a:solidFill>
                  <a:srgbClr val="FFFFFF"/>
                </a:solidFill>
              </a:defRPr>
            </a:pPr>
            <a:r>
              <a:t>• TTL diferensial: clean 24h, malicious 7 hari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749039"/>
            <a:ext cx="5303520" cy="2560320"/>
          </a:xfrm>
          <a:prstGeom prst="roundRect">
            <a:avLst/>
          </a:prstGeom>
          <a:solidFill>
            <a:srgbClr val="2525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3931920"/>
            <a:ext cx="47548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00E676"/>
                </a:solidFill>
              </a:defRPr>
            </a:pPr>
            <a:r>
              <a:t>📊 Bukti Ilmiah</a:t>
            </a:r>
          </a:p>
          <a:p>
            <a:pPr>
              <a:spcBef>
                <a:spcPts val="400"/>
              </a:spcBef>
              <a:defRPr sz="1400">
                <a:solidFill>
                  <a:srgbClr val="FFFFFF"/>
                </a:solidFill>
              </a:defRPr>
            </a:pPr>
            <a:r>
              <a:t>• MITRE ATT&amp;CK mapping: 10 teknik tercakup</a:t>
            </a:r>
          </a:p>
          <a:p>
            <a:pPr>
              <a:spcBef>
                <a:spcPts val="400"/>
              </a:spcBef>
              <a:defRPr sz="1400">
                <a:solidFill>
                  <a:srgbClr val="FFFFFF"/>
                </a:solidFill>
              </a:defRPr>
            </a:pPr>
            <a:r>
              <a:t>• n8n vs Shuffle: empiris 6 aspek (3,8/5 vs 2,5/5)</a:t>
            </a:r>
          </a:p>
          <a:p>
            <a:pPr>
              <a:spcBef>
                <a:spcPts val="400"/>
              </a:spcBef>
              <a:defRPr sz="1400">
                <a:solidFill>
                  <a:srgbClr val="FFFFFF"/>
                </a:solidFill>
              </a:defRPr>
            </a:pPr>
            <a:r>
              <a:t>• Benchmark N≥30: throughput, MTTR, FN rate</a:t>
            </a:r>
          </a:p>
          <a:p>
            <a:pPr>
              <a:spcBef>
                <a:spcPts val="400"/>
              </a:spcBef>
              <a:defRPr sz="1400">
                <a:solidFill>
                  <a:srgbClr val="FFFFFF"/>
                </a:solidFill>
              </a:defRPr>
            </a:pPr>
            <a:r>
              <a:t>• FP suppression 100% terukur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3749039"/>
            <a:ext cx="5303520" cy="2560320"/>
          </a:xfrm>
          <a:prstGeom prst="roundRect">
            <a:avLst/>
          </a:prstGeom>
          <a:solidFill>
            <a:srgbClr val="2525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3931920"/>
            <a:ext cx="47548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00E676"/>
                </a:solidFill>
              </a:defRPr>
            </a:pPr>
            <a:r>
              <a:t>🔗 Proaktif + Hybrid</a:t>
            </a:r>
          </a:p>
          <a:p>
            <a:pPr>
              <a:spcBef>
                <a:spcPts val="400"/>
              </a:spcBef>
              <a:defRPr sz="1400">
                <a:solidFill>
                  <a:srgbClr val="FFFFFF"/>
                </a:solidFill>
              </a:defRPr>
            </a:pPr>
            <a:r>
              <a:t>• Phishing proaktif: URLhaus feed → auto-block sebelum diklik</a:t>
            </a:r>
          </a:p>
          <a:p>
            <a:pPr>
              <a:spcBef>
                <a:spcPts val="400"/>
              </a:spcBef>
              <a:defRPr sz="1400">
                <a:solidFill>
                  <a:srgbClr val="FFFFFF"/>
                </a:solidFill>
              </a:defRPr>
            </a:pPr>
            <a:r>
              <a:t>• G2: exec-bit detection (ELF/MZ tanpa ekstensi)</a:t>
            </a:r>
          </a:p>
          <a:p>
            <a:pPr>
              <a:spcBef>
                <a:spcPts val="400"/>
              </a:spcBef>
              <a:defRPr sz="1400">
                <a:solidFill>
                  <a:srgbClr val="FFFFFF"/>
                </a:solidFill>
              </a:defRPr>
            </a:pPr>
            <a:r>
              <a:t>• Health monitor: poll agent/n8n/Ollama → alert saat status berubah</a:t>
            </a:r>
          </a:p>
          <a:p>
            <a:pPr>
              <a:spcBef>
                <a:spcPts val="400"/>
              </a:spcBef>
              <a:defRPr sz="1400">
                <a:solidFill>
                  <a:srgbClr val="FFFFFF"/>
                </a:solidFill>
              </a:defRPr>
            </a:pPr>
            <a:r>
              <a:t>• Hardening: Caddy reverse-proxy + TLS + basic-auth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2FF"/>
                </a:solidFill>
              </a:defRPr>
            </a:pPr>
            <a:r>
              <a:t>Roadmap Selanjutnya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97280"/>
            <a:ext cx="10972800" cy="1097280"/>
          </a:xfrm>
          <a:prstGeom prst="roundRect">
            <a:avLst/>
          </a:prstGeom>
          <a:solidFill>
            <a:srgbClr val="2525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424160" cy="731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FF4545"/>
                </a:solidFill>
              </a:defRPr>
            </a:pPr>
            <a:r>
              <a:t>F: Trusted Autonomy  [berat]</a:t>
            </a:r>
          </a:p>
          <a:p>
            <a:pPr>
              <a:spcBef>
                <a:spcPts val="400"/>
              </a:spcBef>
              <a:defRPr sz="1400">
                <a:solidFill>
                  <a:srgbClr val="FFFFFF"/>
                </a:solidFill>
              </a:defRPr>
            </a:pPr>
            <a:r>
              <a:t>Timeout/SLA + otonomi adaptif per tingkat keyakinan. HITL tetap default, otonomi hanya untuk keyakinan sangat tinggi.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468880"/>
            <a:ext cx="10972800" cy="1097280"/>
          </a:xfrm>
          <a:prstGeom prst="roundRect">
            <a:avLst/>
          </a:prstGeom>
          <a:solidFill>
            <a:srgbClr val="2525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651760"/>
            <a:ext cx="10424160" cy="731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FF4545"/>
                </a:solidFill>
              </a:defRPr>
            </a:pPr>
            <a:r>
              <a:t>F: RAG Anti-Halusinasi  [berat]</a:t>
            </a:r>
          </a:p>
          <a:p>
            <a:pPr>
              <a:spcBef>
                <a:spcPts val="400"/>
              </a:spcBef>
              <a:defRPr sz="1400">
                <a:solidFill>
                  <a:srgbClr val="FFFFFF"/>
                </a:solidFill>
              </a:defRPr>
            </a:pPr>
            <a:r>
              <a:t>Retrieval-Augmented Generation atas playbook/threat-intel. Cegah LLM mengarang rekomendasi.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840480"/>
            <a:ext cx="10972800" cy="1097280"/>
          </a:xfrm>
          <a:prstGeom prst="roundRect">
            <a:avLst/>
          </a:prstGeom>
          <a:solidFill>
            <a:srgbClr val="2525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4023360"/>
            <a:ext cx="10424160" cy="731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FF4545"/>
                </a:solidFill>
              </a:defRPr>
            </a:pPr>
            <a:r>
              <a:t>E: Arsitektur HA  [berat]</a:t>
            </a:r>
          </a:p>
          <a:p>
            <a:pPr>
              <a:spcBef>
                <a:spcPts val="400"/>
              </a:spcBef>
              <a:defRPr sz="1400">
                <a:solidFill>
                  <a:srgbClr val="FFFFFF"/>
                </a:solidFill>
              </a:defRPr>
            </a:pPr>
            <a:r>
              <a:t>n8n queue-mode (Redis+worker) + PostgreSQL. Manager/indexer redundan. Prometheus + Grafana.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5212080"/>
            <a:ext cx="10972800" cy="1097280"/>
          </a:xfrm>
          <a:prstGeom prst="roundRect">
            <a:avLst/>
          </a:prstGeom>
          <a:solidFill>
            <a:srgbClr val="2525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5394960"/>
            <a:ext cx="10424160" cy="731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FFD600"/>
                </a:solidFill>
              </a:defRPr>
            </a:pPr>
            <a:r>
              <a:t>H3: Upgrade Wazuh  [sedang]</a:t>
            </a:r>
          </a:p>
          <a:p>
            <a:pPr>
              <a:spcBef>
                <a:spcPts val="400"/>
              </a:spcBef>
              <a:defRPr sz="1400">
                <a:solidFill>
                  <a:srgbClr val="FFFFFF"/>
                </a:solidFill>
              </a:defRPr>
            </a:pPr>
            <a:r>
              <a:t>4.9.2 → 4.14.7 (pasca-TA). Agent wajib upgrade bareng.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00D2FF"/>
                </a:solidFill>
              </a:defRPr>
            </a:pPr>
            <a:r>
              <a:t>Terima Kasih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</a:defRPr>
            </a:pPr>
            <a:r>
              <a:t>SOAR open-source yang confidence-based, transparan,</a:t>
            </a:r>
            <a:br/>
            <a:r>
              <a:t>dan sadar-degradasi untuk menekan alert fatigue</a:t>
            </a:r>
            <a:br/>
            <a:r>
              <a:t>tanpa silent-failure — dengan HITL yang dapat dipertanggungjawabkan.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029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AAAAA"/>
                </a:solidFill>
              </a:defRPr>
            </a:pPr>
            <a:r>
              <a:t>Ravi Arnan Irianto  ·  2305551076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4864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AAAAA"/>
                </a:solidFill>
              </a:defRPr>
            </a:pPr>
            <a:r>
              <a:t>raviarnankeren@gmail.com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